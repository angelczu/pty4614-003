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Montserrat" charset="1" panose="00000500000000000000"/>
      <p:regular r:id="rId23"/>
    </p:embeddedFont>
    <p:embeddedFont>
      <p:font typeface="Montserrat Heavy" charset="1" panose="00000A00000000000000"/>
      <p:regular r:id="rId24"/>
    </p:embeddedFont>
    <p:embeddedFont>
      <p:font typeface="Montserrat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38159">
            <a:off x="9435733" y="6630537"/>
            <a:ext cx="9525408" cy="5334228"/>
          </a:xfrm>
          <a:custGeom>
            <a:avLst/>
            <a:gdLst/>
            <a:ahLst/>
            <a:cxnLst/>
            <a:rect r="r" b="b" t="t" l="l"/>
            <a:pathLst>
              <a:path h="5334228" w="9525408">
                <a:moveTo>
                  <a:pt x="0" y="0"/>
                </a:moveTo>
                <a:lnTo>
                  <a:pt x="9525407" y="0"/>
                </a:lnTo>
                <a:lnTo>
                  <a:pt x="9525407" y="5334228"/>
                </a:lnTo>
                <a:lnTo>
                  <a:pt x="0" y="5334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93289" y="514350"/>
            <a:ext cx="8054721" cy="9258300"/>
          </a:xfrm>
          <a:custGeom>
            <a:avLst/>
            <a:gdLst/>
            <a:ahLst/>
            <a:cxnLst/>
            <a:rect r="r" b="b" t="t" l="l"/>
            <a:pathLst>
              <a:path h="9258300" w="8054721">
                <a:moveTo>
                  <a:pt x="0" y="0"/>
                </a:moveTo>
                <a:lnTo>
                  <a:pt x="8054721" y="0"/>
                </a:lnTo>
                <a:lnTo>
                  <a:pt x="8054721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38159">
            <a:off x="-174563" y="7036805"/>
            <a:ext cx="9525408" cy="5334228"/>
          </a:xfrm>
          <a:custGeom>
            <a:avLst/>
            <a:gdLst/>
            <a:ahLst/>
            <a:cxnLst/>
            <a:rect r="r" b="b" t="t" l="l"/>
            <a:pathLst>
              <a:path h="5334228" w="9525408">
                <a:moveTo>
                  <a:pt x="0" y="0"/>
                </a:moveTo>
                <a:lnTo>
                  <a:pt x="9525407" y="0"/>
                </a:lnTo>
                <a:lnTo>
                  <a:pt x="9525407" y="5334228"/>
                </a:lnTo>
                <a:lnTo>
                  <a:pt x="0" y="5334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420649" y="728783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2A8E3">
                    <a:alpha val="0"/>
                  </a:srgbClr>
                </a:gs>
                <a:gs pos="100000">
                  <a:srgbClr val="3B27C6">
                    <a:alpha val="72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16780" y="2781017"/>
            <a:ext cx="5784616" cy="2466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89"/>
              </a:lnSpc>
            </a:pPr>
            <a:r>
              <a:rPr lang="en-US" sz="1020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16780" y="5099308"/>
            <a:ext cx="6130592" cy="85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2"/>
              </a:lnSpc>
            </a:pPr>
            <a:r>
              <a:rPr lang="en-US" sz="6806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6780" y="6760576"/>
            <a:ext cx="557887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Capstone – Sección 003D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16780" y="7286632"/>
            <a:ext cx="557887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Cristopher Arredondo – Ángel Cea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601700" y="-340379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133172"/>
            <a:ext cx="8903747" cy="579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5"/>
              </a:lnSpc>
            </a:pPr>
            <a:r>
              <a:rPr lang="en-US" sz="28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 gestión financiera de las personas suele apoyarse en múltiples fuentes: cartolas bancarias, Excel, anotaciones manuales o plataformas fragmentadas.</a:t>
            </a:r>
          </a:p>
          <a:p>
            <a:pPr algn="just">
              <a:lnSpc>
                <a:spcPts val="3175"/>
              </a:lnSpc>
            </a:pPr>
          </a:p>
          <a:p>
            <a:pPr algn="just">
              <a:lnSpc>
                <a:spcPts val="3175"/>
              </a:lnSpc>
            </a:pPr>
            <a:r>
              <a:rPr lang="en-US" sz="28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Esto provoca:</a:t>
            </a:r>
          </a:p>
          <a:p>
            <a:pPr algn="just">
              <a:lnSpc>
                <a:spcPts val="3175"/>
              </a:lnSpc>
            </a:pPr>
          </a:p>
          <a:p>
            <a:pPr algn="just" marL="623357" indent="-311679" lvl="1">
              <a:lnSpc>
                <a:spcPts val="3175"/>
              </a:lnSpc>
              <a:buFont typeface="Arial"/>
              <a:buChar char="•"/>
            </a:pPr>
            <a:r>
              <a:rPr lang="en-US" sz="28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Falta de una visión consolidada de ingresos, gastos y deudas.</a:t>
            </a:r>
          </a:p>
          <a:p>
            <a:pPr algn="just" marL="623357" indent="-311679" lvl="1">
              <a:lnSpc>
                <a:spcPts val="3175"/>
              </a:lnSpc>
              <a:buFont typeface="Arial"/>
              <a:buChar char="•"/>
            </a:pPr>
            <a:r>
              <a:rPr lang="en-US" sz="28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Errores manuales y registros incompletos.</a:t>
            </a:r>
          </a:p>
          <a:p>
            <a:pPr algn="just" marL="623357" indent="-311679" lvl="1">
              <a:lnSpc>
                <a:spcPts val="3175"/>
              </a:lnSpc>
              <a:buFont typeface="Arial"/>
              <a:buChar char="•"/>
            </a:pPr>
            <a:r>
              <a:rPr lang="en-US" sz="28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Dificultad para organizar gastos compartidos.</a:t>
            </a:r>
          </a:p>
          <a:p>
            <a:pPr algn="just" marL="623357" indent="-311679" lvl="1">
              <a:lnSpc>
                <a:spcPts val="3175"/>
              </a:lnSpc>
              <a:buFont typeface="Arial"/>
              <a:buChar char="•"/>
            </a:pPr>
            <a:r>
              <a:rPr lang="en-US" sz="28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Información poco confiable para la toma de decisiones.</a:t>
            </a:r>
          </a:p>
          <a:p>
            <a:pPr algn="ctr">
              <a:lnSpc>
                <a:spcPts val="183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3532656" y="530429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61892" y="2796013"/>
            <a:ext cx="7231353" cy="5795135"/>
          </a:xfrm>
          <a:custGeom>
            <a:avLst/>
            <a:gdLst/>
            <a:ahLst/>
            <a:cxnLst/>
            <a:rect r="r" b="b" t="t" l="l"/>
            <a:pathLst>
              <a:path h="5795135" w="7231353">
                <a:moveTo>
                  <a:pt x="0" y="0"/>
                </a:moveTo>
                <a:lnTo>
                  <a:pt x="7231354" y="0"/>
                </a:lnTo>
                <a:lnTo>
                  <a:pt x="7231354" y="5795135"/>
                </a:lnTo>
                <a:lnTo>
                  <a:pt x="0" y="57951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117" t="0" r="-2186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84389" y="1274819"/>
            <a:ext cx="9119223" cy="82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86426" y="1222032"/>
            <a:ext cx="7408380" cy="7435418"/>
          </a:xfrm>
          <a:custGeom>
            <a:avLst/>
            <a:gdLst/>
            <a:ahLst/>
            <a:cxnLst/>
            <a:rect r="r" b="b" t="t" l="l"/>
            <a:pathLst>
              <a:path h="7435418" w="7408380">
                <a:moveTo>
                  <a:pt x="0" y="0"/>
                </a:moveTo>
                <a:lnTo>
                  <a:pt x="7408381" y="0"/>
                </a:lnTo>
                <a:lnTo>
                  <a:pt x="7408381" y="7435419"/>
                </a:lnTo>
                <a:lnTo>
                  <a:pt x="0" y="7435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24043" y="1393482"/>
            <a:ext cx="7219957" cy="82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6158" y="3269540"/>
            <a:ext cx="9139113" cy="400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Realizamos una aplicación móvil que centraliza el registro y control financiero en un solo lugar.</a:t>
            </a:r>
          </a:p>
          <a:p>
            <a:pPr algn="l">
              <a:lnSpc>
                <a:spcPts val="2673"/>
              </a:lnSpc>
            </a:pPr>
          </a:p>
          <a:p>
            <a:pPr algn="l">
              <a:lnSpc>
                <a:spcPts val="2673"/>
              </a:lnSpc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Características principales de la solución:</a:t>
            </a:r>
          </a:p>
          <a:p>
            <a:pPr algn="l">
              <a:lnSpc>
                <a:spcPts val="2673"/>
              </a:lnSpc>
            </a:pPr>
          </a:p>
          <a:p>
            <a:pPr algn="l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Registro manual de ingresos, gastos, deudas y objetivos</a:t>
            </a: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Clasificación flexible con categorías personalizadas.</a:t>
            </a:r>
          </a:p>
          <a:p>
            <a:pPr algn="l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Visualización en un panel unificado con deudas y gastos por meses.</a:t>
            </a:r>
          </a:p>
          <a:p>
            <a:pPr algn="l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de gastos y deudas compartidas.</a:t>
            </a:r>
          </a:p>
          <a:p>
            <a:pPr algn="l">
              <a:lnSpc>
                <a:spcPts val="267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y Pymes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5995" y="3260394"/>
            <a:ext cx="4793468" cy="5469725"/>
          </a:xfrm>
          <a:custGeom>
            <a:avLst/>
            <a:gdLst/>
            <a:ahLst/>
            <a:cxnLst/>
            <a:rect r="r" b="b" t="t" l="l"/>
            <a:pathLst>
              <a:path h="5469725" w="4793468">
                <a:moveTo>
                  <a:pt x="0" y="0"/>
                </a:moveTo>
                <a:lnTo>
                  <a:pt x="4793468" y="0"/>
                </a:lnTo>
                <a:lnTo>
                  <a:pt x="4793468" y="5469725"/>
                </a:lnTo>
                <a:lnTo>
                  <a:pt x="0" y="5469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435313" y="1503138"/>
            <a:ext cx="7396673" cy="3375015"/>
            <a:chOff x="0" y="0"/>
            <a:chExt cx="1948095" cy="8888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48095" cy="888893"/>
            </a:xfrm>
            <a:custGeom>
              <a:avLst/>
              <a:gdLst/>
              <a:ahLst/>
              <a:cxnLst/>
              <a:rect r="r" b="b" t="t" l="l"/>
              <a:pathLst>
                <a:path h="888893" w="1948095">
                  <a:moveTo>
                    <a:pt x="28260" y="0"/>
                  </a:moveTo>
                  <a:lnTo>
                    <a:pt x="1919835" y="0"/>
                  </a:lnTo>
                  <a:cubicBezTo>
                    <a:pt x="1927330" y="0"/>
                    <a:pt x="1934518" y="2977"/>
                    <a:pt x="1939818" y="8277"/>
                  </a:cubicBezTo>
                  <a:cubicBezTo>
                    <a:pt x="1945118" y="13577"/>
                    <a:pt x="1948095" y="20765"/>
                    <a:pt x="1948095" y="28260"/>
                  </a:cubicBezTo>
                  <a:lnTo>
                    <a:pt x="1948095" y="860633"/>
                  </a:lnTo>
                  <a:cubicBezTo>
                    <a:pt x="1948095" y="876240"/>
                    <a:pt x="1935443" y="888893"/>
                    <a:pt x="1919835" y="888893"/>
                  </a:cubicBezTo>
                  <a:lnTo>
                    <a:pt x="28260" y="888893"/>
                  </a:lnTo>
                  <a:cubicBezTo>
                    <a:pt x="12653" y="888893"/>
                    <a:pt x="0" y="876240"/>
                    <a:pt x="0" y="860633"/>
                  </a:cubicBezTo>
                  <a:lnTo>
                    <a:pt x="0" y="28260"/>
                  </a:lnTo>
                  <a:cubicBezTo>
                    <a:pt x="0" y="12653"/>
                    <a:pt x="12653" y="0"/>
                    <a:pt x="28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4664">
                    <a:alpha val="100000"/>
                  </a:srgbClr>
                </a:gs>
                <a:gs pos="100000">
                  <a:srgbClr val="071449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1948095" cy="841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435313" y="1503138"/>
            <a:ext cx="7396673" cy="1037247"/>
            <a:chOff x="0" y="0"/>
            <a:chExt cx="1948095" cy="2731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48095" cy="273184"/>
            </a:xfrm>
            <a:custGeom>
              <a:avLst/>
              <a:gdLst/>
              <a:ahLst/>
              <a:cxnLst/>
              <a:rect r="r" b="b" t="t" l="l"/>
              <a:pathLst>
                <a:path h="273184" w="1948095">
                  <a:moveTo>
                    <a:pt x="28260" y="0"/>
                  </a:moveTo>
                  <a:lnTo>
                    <a:pt x="1919835" y="0"/>
                  </a:lnTo>
                  <a:cubicBezTo>
                    <a:pt x="1927330" y="0"/>
                    <a:pt x="1934518" y="2977"/>
                    <a:pt x="1939818" y="8277"/>
                  </a:cubicBezTo>
                  <a:cubicBezTo>
                    <a:pt x="1945118" y="13577"/>
                    <a:pt x="1948095" y="20765"/>
                    <a:pt x="1948095" y="28260"/>
                  </a:cubicBezTo>
                  <a:lnTo>
                    <a:pt x="1948095" y="244924"/>
                  </a:lnTo>
                  <a:cubicBezTo>
                    <a:pt x="1948095" y="260532"/>
                    <a:pt x="1935443" y="273184"/>
                    <a:pt x="1919835" y="273184"/>
                  </a:cubicBezTo>
                  <a:lnTo>
                    <a:pt x="28260" y="273184"/>
                  </a:lnTo>
                  <a:cubicBezTo>
                    <a:pt x="20765" y="273184"/>
                    <a:pt x="13577" y="270207"/>
                    <a:pt x="8277" y="264907"/>
                  </a:cubicBezTo>
                  <a:cubicBezTo>
                    <a:pt x="2977" y="259607"/>
                    <a:pt x="0" y="252419"/>
                    <a:pt x="0" y="244924"/>
                  </a:cubicBezTo>
                  <a:lnTo>
                    <a:pt x="0" y="28260"/>
                  </a:lnTo>
                  <a:cubicBezTo>
                    <a:pt x="0" y="12653"/>
                    <a:pt x="12653" y="0"/>
                    <a:pt x="28260" y="0"/>
                  </a:cubicBezTo>
                  <a:close/>
                </a:path>
              </a:pathLst>
            </a:custGeom>
            <a:solidFill>
              <a:srgbClr val="162233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1948095" cy="225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015440" y="5258830"/>
            <a:ext cx="6074741" cy="3898473"/>
          </a:xfrm>
          <a:custGeom>
            <a:avLst/>
            <a:gdLst/>
            <a:ahLst/>
            <a:cxnLst/>
            <a:rect r="r" b="b" t="t" l="l"/>
            <a:pathLst>
              <a:path h="3898473" w="6074741">
                <a:moveTo>
                  <a:pt x="0" y="0"/>
                </a:moveTo>
                <a:lnTo>
                  <a:pt x="6074741" y="0"/>
                </a:lnTo>
                <a:lnTo>
                  <a:pt x="6074741" y="3898473"/>
                </a:lnTo>
                <a:lnTo>
                  <a:pt x="0" y="3898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06" r="0" b="-200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622997"/>
            <a:ext cx="6001309" cy="158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Beneficiarios</a:t>
            </a:r>
          </a:p>
          <a:p>
            <a:pPr algn="l">
              <a:lnSpc>
                <a:spcPts val="6034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981630" y="1882648"/>
            <a:ext cx="2304040" cy="363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</a:pPr>
            <a:r>
              <a:rPr lang="en-US" sz="300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PERSONAS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06696" y="2875596"/>
            <a:ext cx="6692230" cy="2002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5005" indent="-262502" lvl="1">
              <a:lnSpc>
                <a:spcPts val="2674"/>
              </a:lnSpc>
              <a:buFont typeface="Arial"/>
              <a:buChar char="•"/>
            </a:pPr>
            <a:r>
              <a:rPr lang="en-US" sz="24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Identificar gastos innecesarios (“gastos hormiga”).</a:t>
            </a:r>
          </a:p>
          <a:p>
            <a:pPr algn="l" marL="525005" indent="-262502" lvl="1">
              <a:lnSpc>
                <a:spcPts val="2674"/>
              </a:lnSpc>
              <a:buFont typeface="Arial"/>
              <a:buChar char="•"/>
            </a:pPr>
            <a:r>
              <a:rPr lang="en-US" sz="24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Planificar mejor el presupuesto mensual.</a:t>
            </a:r>
          </a:p>
          <a:p>
            <a:pPr algn="l" marL="525005" indent="-262502" lvl="1">
              <a:lnSpc>
                <a:spcPts val="2674"/>
              </a:lnSpc>
              <a:buFont typeface="Arial"/>
              <a:buChar char="•"/>
            </a:pPr>
            <a:r>
              <a:rPr lang="en-US" sz="24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Contar con reportes simples y claros.</a:t>
            </a:r>
          </a:p>
          <a:p>
            <a:pPr algn="l">
              <a:lnSpc>
                <a:spcPts val="2674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y Pymes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39058" y="3239282"/>
            <a:ext cx="283152" cy="1018351"/>
            <a:chOff x="0" y="0"/>
            <a:chExt cx="74575" cy="2682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575" cy="268208"/>
            </a:xfrm>
            <a:custGeom>
              <a:avLst/>
              <a:gdLst/>
              <a:ahLst/>
              <a:cxnLst/>
              <a:rect r="r" b="b" t="t" l="l"/>
              <a:pathLst>
                <a:path h="268208" w="74575">
                  <a:moveTo>
                    <a:pt x="0" y="0"/>
                  </a:moveTo>
                  <a:lnTo>
                    <a:pt x="74575" y="0"/>
                  </a:lnTo>
                  <a:lnTo>
                    <a:pt x="74575" y="268208"/>
                  </a:lnTo>
                  <a:lnTo>
                    <a:pt x="0" y="268208"/>
                  </a:lnTo>
                  <a:close/>
                </a:path>
              </a:pathLst>
            </a:custGeom>
            <a:gradFill rotWithShape="true">
              <a:gsLst>
                <a:gs pos="0">
                  <a:srgbClr val="62A8E3">
                    <a:alpha val="0"/>
                  </a:srgbClr>
                </a:gs>
                <a:gs pos="100000">
                  <a:srgbClr val="3B27C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74575" cy="22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39058" y="6365088"/>
            <a:ext cx="283152" cy="1018351"/>
            <a:chOff x="0" y="0"/>
            <a:chExt cx="74575" cy="2682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575" cy="268208"/>
            </a:xfrm>
            <a:custGeom>
              <a:avLst/>
              <a:gdLst/>
              <a:ahLst/>
              <a:cxnLst/>
              <a:rect r="r" b="b" t="t" l="l"/>
              <a:pathLst>
                <a:path h="268208" w="74575">
                  <a:moveTo>
                    <a:pt x="0" y="0"/>
                  </a:moveTo>
                  <a:lnTo>
                    <a:pt x="74575" y="0"/>
                  </a:lnTo>
                  <a:lnTo>
                    <a:pt x="74575" y="268208"/>
                  </a:lnTo>
                  <a:lnTo>
                    <a:pt x="0" y="268208"/>
                  </a:lnTo>
                  <a:close/>
                </a:path>
              </a:pathLst>
            </a:custGeom>
            <a:gradFill rotWithShape="true">
              <a:gsLst>
                <a:gs pos="0">
                  <a:srgbClr val="62A8E3">
                    <a:alpha val="0"/>
                  </a:srgbClr>
                </a:gs>
                <a:gs pos="100000">
                  <a:srgbClr val="3B27C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74575" cy="22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71991" y="2001002"/>
            <a:ext cx="5584676" cy="6284995"/>
          </a:xfrm>
          <a:custGeom>
            <a:avLst/>
            <a:gdLst/>
            <a:ahLst/>
            <a:cxnLst/>
            <a:rect r="r" b="b" t="t" l="l"/>
            <a:pathLst>
              <a:path h="6284995" w="5584676">
                <a:moveTo>
                  <a:pt x="0" y="0"/>
                </a:moveTo>
                <a:lnTo>
                  <a:pt x="5584676" y="0"/>
                </a:lnTo>
                <a:lnTo>
                  <a:pt x="5584676" y="6284996"/>
                </a:lnTo>
                <a:lnTo>
                  <a:pt x="0" y="628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39058" y="1200150"/>
            <a:ext cx="6255008" cy="82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Alcance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14761" y="2246232"/>
            <a:ext cx="8368625" cy="300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73"/>
              </a:lnSpc>
            </a:pPr>
            <a:r>
              <a:rPr lang="en-US" sz="242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Versión 1 (V1):</a:t>
            </a:r>
          </a:p>
          <a:p>
            <a:pPr algn="just">
              <a:lnSpc>
                <a:spcPts val="2673"/>
              </a:lnSpc>
            </a:pPr>
          </a:p>
          <a:p>
            <a:pPr algn="just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Plataforma Android.</a:t>
            </a:r>
          </a:p>
          <a:p>
            <a:pPr algn="just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Registro manual de movimientos financieros.</a:t>
            </a:r>
          </a:p>
          <a:p>
            <a:pPr algn="just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Clasificación de operaciones por categorías.</a:t>
            </a:r>
          </a:p>
          <a:p>
            <a:pPr algn="just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Panel unificado con totales.</a:t>
            </a:r>
          </a:p>
          <a:p>
            <a:pPr algn="just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astos/deudas compartidas.</a:t>
            </a:r>
          </a:p>
          <a:p>
            <a:pPr algn="just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Eliminación de cuenta y datos asociados.</a:t>
            </a:r>
          </a:p>
          <a:p>
            <a:pPr algn="just">
              <a:lnSpc>
                <a:spcPts val="2673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07984" y="5728345"/>
            <a:ext cx="8175401" cy="3414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1"/>
              </a:lnSpc>
              <a:spcBef>
                <a:spcPct val="0"/>
              </a:spcBef>
            </a:pPr>
            <a:r>
              <a:rPr lang="en-US" b="true" sz="242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Futuras versiones (V2+):</a:t>
            </a:r>
          </a:p>
          <a:p>
            <a:pPr algn="just">
              <a:lnSpc>
                <a:spcPts val="3401"/>
              </a:lnSpc>
            </a:pPr>
          </a:p>
          <a:p>
            <a:pPr algn="just" marL="524637" indent="-262318" lvl="1">
              <a:lnSpc>
                <a:spcPts val="3401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iOS.</a:t>
            </a:r>
          </a:p>
          <a:p>
            <a:pPr algn="just" marL="524637" indent="-262318" lvl="1">
              <a:lnSpc>
                <a:spcPts val="3401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Proyecciones financieras automáticas.</a:t>
            </a:r>
          </a:p>
          <a:p>
            <a:pPr algn="just" marL="524637" indent="-262318" lvl="1">
              <a:lnSpc>
                <a:spcPts val="3401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Adjuntos (boletas, comprobantes).</a:t>
            </a:r>
          </a:p>
          <a:p>
            <a:pPr algn="just" marL="524637" indent="-262318" lvl="1">
              <a:lnSpc>
                <a:spcPts val="3401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Soporte offline con sincronización.</a:t>
            </a:r>
          </a:p>
          <a:p>
            <a:pPr algn="just" marL="524637" indent="-262318" lvl="1">
              <a:lnSpc>
                <a:spcPts val="3401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Integraciones externas (bancos, SII, Transbank).</a:t>
            </a:r>
          </a:p>
          <a:p>
            <a:pPr algn="just" marL="524637" indent="-262318" lvl="1">
              <a:lnSpc>
                <a:spcPts val="3401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Integracion de IA con conocimiento en Finanzas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23133" y="2402405"/>
            <a:ext cx="10860573" cy="2467280"/>
          </a:xfrm>
          <a:custGeom>
            <a:avLst/>
            <a:gdLst/>
            <a:ahLst/>
            <a:cxnLst/>
            <a:rect r="r" b="b" t="t" l="l"/>
            <a:pathLst>
              <a:path h="2467280" w="10860573">
                <a:moveTo>
                  <a:pt x="0" y="0"/>
                </a:moveTo>
                <a:lnTo>
                  <a:pt x="10860573" y="0"/>
                </a:lnTo>
                <a:lnTo>
                  <a:pt x="10860573" y="2467279"/>
                </a:lnTo>
                <a:lnTo>
                  <a:pt x="0" y="246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2063" r="0" b="-1562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006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69365" y="1200150"/>
            <a:ext cx="12749271" cy="82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45407" y="5095019"/>
            <a:ext cx="14597186" cy="366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73"/>
              </a:lnSpc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 utilizo un enfoque iterativo e incremental, que permitirá entregar una primera versión funcional y mejorarla progresivamente.</a:t>
            </a:r>
          </a:p>
          <a:p>
            <a:pPr algn="just">
              <a:lnSpc>
                <a:spcPts val="2673"/>
              </a:lnSpc>
            </a:pPr>
          </a:p>
          <a:p>
            <a:pPr algn="just">
              <a:lnSpc>
                <a:spcPts val="2673"/>
              </a:lnSpc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Etapas principales:</a:t>
            </a:r>
          </a:p>
          <a:p>
            <a:pPr algn="just">
              <a:lnSpc>
                <a:spcPts val="2673"/>
              </a:lnSpc>
            </a:pPr>
          </a:p>
          <a:p>
            <a:pPr algn="just" marL="524637" indent="-262318" lvl="1">
              <a:lnSpc>
                <a:spcPts val="2673"/>
              </a:lnSpc>
              <a:buAutoNum type="arabicPeriod" startAt="1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Análisis de requerimientos.</a:t>
            </a:r>
          </a:p>
          <a:p>
            <a:pPr algn="just" marL="524637" indent="-262318" lvl="1">
              <a:lnSpc>
                <a:spcPts val="2673"/>
              </a:lnSpc>
              <a:buAutoNum type="arabicPeriod" startAt="1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Diseño de arquitectura y modelos UML.</a:t>
            </a:r>
          </a:p>
          <a:p>
            <a:pPr algn="just" marL="524637" indent="-262318" lvl="1">
              <a:lnSpc>
                <a:spcPts val="2673"/>
              </a:lnSpc>
              <a:buAutoNum type="arabicPeriod" startAt="1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Desarrollo de módulos en Angular/Ionic y Firebase.</a:t>
            </a:r>
          </a:p>
          <a:p>
            <a:pPr algn="just" marL="524637" indent="-262318" lvl="1">
              <a:lnSpc>
                <a:spcPts val="2673"/>
              </a:lnSpc>
              <a:buAutoNum type="arabicPeriod" startAt="1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Pruebas funcionales, de rendimiento y usabilidad.</a:t>
            </a:r>
          </a:p>
          <a:p>
            <a:pPr algn="just" marL="524637" indent="-262318" lvl="1">
              <a:lnSpc>
                <a:spcPts val="2673"/>
              </a:lnSpc>
              <a:buAutoNum type="arabicPeriod" startAt="1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Despliegue en Android y retroalimentación de usuarios.</a:t>
            </a:r>
          </a:p>
          <a:p>
            <a:pPr algn="ctr">
              <a:lnSpc>
                <a:spcPts val="267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4324" y="4784429"/>
            <a:ext cx="283152" cy="1018351"/>
            <a:chOff x="0" y="0"/>
            <a:chExt cx="74575" cy="2682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575" cy="268208"/>
            </a:xfrm>
            <a:custGeom>
              <a:avLst/>
              <a:gdLst/>
              <a:ahLst/>
              <a:cxnLst/>
              <a:rect r="r" b="b" t="t" l="l"/>
              <a:pathLst>
                <a:path h="268208" w="74575">
                  <a:moveTo>
                    <a:pt x="0" y="0"/>
                  </a:moveTo>
                  <a:lnTo>
                    <a:pt x="74575" y="0"/>
                  </a:lnTo>
                  <a:lnTo>
                    <a:pt x="74575" y="268208"/>
                  </a:lnTo>
                  <a:lnTo>
                    <a:pt x="0" y="268208"/>
                  </a:lnTo>
                  <a:close/>
                </a:path>
              </a:pathLst>
            </a:custGeom>
            <a:gradFill rotWithShape="true">
              <a:gsLst>
                <a:gs pos="0">
                  <a:srgbClr val="62A8E3">
                    <a:alpha val="0"/>
                  </a:srgbClr>
                </a:gs>
                <a:gs pos="100000">
                  <a:srgbClr val="3B27C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74575" cy="22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290666" y="2569559"/>
            <a:ext cx="5480058" cy="5448091"/>
          </a:xfrm>
          <a:custGeom>
            <a:avLst/>
            <a:gdLst/>
            <a:ahLst/>
            <a:cxnLst/>
            <a:rect r="r" b="b" t="t" l="l"/>
            <a:pathLst>
              <a:path h="5448091" w="5480058">
                <a:moveTo>
                  <a:pt x="0" y="0"/>
                </a:moveTo>
                <a:lnTo>
                  <a:pt x="5480059" y="0"/>
                </a:lnTo>
                <a:lnTo>
                  <a:pt x="5480059" y="5448092"/>
                </a:lnTo>
                <a:lnTo>
                  <a:pt x="0" y="5448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007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200150"/>
            <a:ext cx="9097139" cy="158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Requerimientos </a:t>
            </a:r>
          </a:p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Funcionales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33665" y="3773103"/>
            <a:ext cx="9340175" cy="366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Seguridad: acceso restringido por usuario (UID) en Firestore, cifrado TLS/HTTPS.</a:t>
            </a:r>
          </a:p>
          <a:p>
            <a:pPr algn="l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Disponibilidad: ≥ 99%.</a:t>
            </a:r>
          </a:p>
          <a:p>
            <a:pPr algn="l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Rendimiento: tiempos de respuesta ≤ 3 segundos en operaciones comunes.</a:t>
            </a:r>
          </a:p>
          <a:p>
            <a:pPr algn="just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Usabilidad: interfaz simple y clara, mensajes de error comprensibles.</a:t>
            </a:r>
          </a:p>
          <a:p>
            <a:pPr algn="l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Mantenibilidad: código documentado y modular.</a:t>
            </a:r>
          </a:p>
          <a:p>
            <a:pPr algn="l" marL="524637" indent="-262318" lvl="1">
              <a:lnSpc>
                <a:spcPts val="2673"/>
              </a:lnSpc>
              <a:buFont typeface="Arial"/>
              <a:buChar char="•"/>
            </a:pPr>
            <a:r>
              <a:rPr lang="en-US" sz="24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Escalabilidad: arquitectura preparada para nuevas funciones en versiones futuras.</a:t>
            </a:r>
          </a:p>
          <a:p>
            <a:pPr algn="l">
              <a:lnSpc>
                <a:spcPts val="267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22158" y="2785956"/>
            <a:ext cx="15468459" cy="5945902"/>
          </a:xfrm>
          <a:custGeom>
            <a:avLst/>
            <a:gdLst/>
            <a:ahLst/>
            <a:cxnLst/>
            <a:rect r="r" b="b" t="t" l="l"/>
            <a:pathLst>
              <a:path h="5945902" w="15468459">
                <a:moveTo>
                  <a:pt x="0" y="0"/>
                </a:moveTo>
                <a:lnTo>
                  <a:pt x="15468459" y="0"/>
                </a:lnTo>
                <a:lnTo>
                  <a:pt x="15468459" y="5945902"/>
                </a:lnTo>
                <a:lnTo>
                  <a:pt x="0" y="5945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007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200150"/>
            <a:ext cx="9097139" cy="158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Requerimientos </a:t>
            </a:r>
          </a:p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Funcionales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04614" y="1721232"/>
            <a:ext cx="14478772" cy="6932836"/>
          </a:xfrm>
          <a:custGeom>
            <a:avLst/>
            <a:gdLst/>
            <a:ahLst/>
            <a:cxnLst/>
            <a:rect r="r" b="b" t="t" l="l"/>
            <a:pathLst>
              <a:path h="6932836" w="14478772">
                <a:moveTo>
                  <a:pt x="0" y="0"/>
                </a:moveTo>
                <a:lnTo>
                  <a:pt x="14478772" y="0"/>
                </a:lnTo>
                <a:lnTo>
                  <a:pt x="14478772" y="6932837"/>
                </a:lnTo>
                <a:lnTo>
                  <a:pt x="0" y="69328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5" t="0" r="-1643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007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27680" y="702522"/>
            <a:ext cx="5432641" cy="82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Tecnologias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39048" y="1708943"/>
            <a:ext cx="7146268" cy="7301414"/>
          </a:xfrm>
          <a:custGeom>
            <a:avLst/>
            <a:gdLst/>
            <a:ahLst/>
            <a:cxnLst/>
            <a:rect r="r" b="b" t="t" l="l"/>
            <a:pathLst>
              <a:path h="7301414" w="7146268">
                <a:moveTo>
                  <a:pt x="0" y="0"/>
                </a:moveTo>
                <a:lnTo>
                  <a:pt x="7146268" y="0"/>
                </a:lnTo>
                <a:lnTo>
                  <a:pt x="7146268" y="7301414"/>
                </a:lnTo>
                <a:lnTo>
                  <a:pt x="0" y="7301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1" r="0" b="-68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008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16354" y="724861"/>
            <a:ext cx="8855293" cy="158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Clases</a:t>
            </a:r>
          </a:p>
          <a:p>
            <a:pPr algn="l">
              <a:lnSpc>
                <a:spcPts val="603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96078" y="2756980"/>
            <a:ext cx="6991023" cy="560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3"/>
              </a:lnSpc>
            </a:pPr>
            <a:r>
              <a:rPr lang="en-US" sz="401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 diagrama muestra a Usuario como entidad central, con Categorías y Movimientos asociados. Cada movimiento pertenece a un</a:t>
            </a:r>
            <a:r>
              <a:rPr lang="en-US" sz="401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categoría y puede i</a:t>
            </a:r>
            <a:r>
              <a:rPr lang="en-US" sz="401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ncluir Cuotas o Participaciones compartidas según corresponda.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6325" y="1501913"/>
            <a:ext cx="7527675" cy="7283173"/>
          </a:xfrm>
          <a:custGeom>
            <a:avLst/>
            <a:gdLst/>
            <a:ahLst/>
            <a:cxnLst/>
            <a:rect r="r" b="b" t="t" l="l"/>
            <a:pathLst>
              <a:path h="7283173" w="7527675">
                <a:moveTo>
                  <a:pt x="0" y="0"/>
                </a:moveTo>
                <a:lnTo>
                  <a:pt x="7527675" y="0"/>
                </a:lnTo>
                <a:lnTo>
                  <a:pt x="7527675" y="7283174"/>
                </a:lnTo>
                <a:lnTo>
                  <a:pt x="0" y="72831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009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19441" y="702522"/>
            <a:ext cx="12049118" cy="82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Casos de Uso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85412" y="1679239"/>
            <a:ext cx="6673888" cy="747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8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 diagrama representa al Usuario interactuando con la app: puede registrarse, iniciar sesión y gestionar su perfil, además de registrar, editar y eliminar movimientos. También accede al panel unifi</a:t>
            </a:r>
            <a:r>
              <a:rPr lang="en-US" sz="38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cado, usa búsquedas y fi</a:t>
            </a:r>
            <a:r>
              <a:rPr lang="en-US" sz="38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ltros, gestiona categorías, divide gastos/deudas compartidas, exporta datos y puede eliminar su cuenta.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514565" y="1028700"/>
            <a:ext cx="11258870" cy="7915212"/>
          </a:xfrm>
          <a:custGeom>
            <a:avLst/>
            <a:gdLst/>
            <a:ahLst/>
            <a:cxnLst/>
            <a:rect r="r" b="b" t="t" l="l"/>
            <a:pathLst>
              <a:path h="7915212" w="11258870">
                <a:moveTo>
                  <a:pt x="0" y="0"/>
                </a:moveTo>
                <a:lnTo>
                  <a:pt x="11258870" y="0"/>
                </a:lnTo>
                <a:lnTo>
                  <a:pt x="11258870" y="7915212"/>
                </a:lnTo>
                <a:lnTo>
                  <a:pt x="0" y="7915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47477" y="95251"/>
            <a:ext cx="13831867" cy="9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9"/>
              </a:lnSpc>
            </a:pPr>
            <a:r>
              <a:rPr lang="en-US" sz="7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Base de datos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8952" y="1715758"/>
            <a:ext cx="16890095" cy="6734926"/>
          </a:xfrm>
          <a:custGeom>
            <a:avLst/>
            <a:gdLst/>
            <a:ahLst/>
            <a:cxnLst/>
            <a:rect r="r" b="b" t="t" l="l"/>
            <a:pathLst>
              <a:path h="6734926" w="16890095">
                <a:moveTo>
                  <a:pt x="0" y="0"/>
                </a:moveTo>
                <a:lnTo>
                  <a:pt x="16890096" y="0"/>
                </a:lnTo>
                <a:lnTo>
                  <a:pt x="16890096" y="6734925"/>
                </a:lnTo>
                <a:lnTo>
                  <a:pt x="0" y="6734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64506" y="411149"/>
            <a:ext cx="10558989" cy="82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Cronograma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5605" y="2528280"/>
            <a:ext cx="15664183" cy="5470363"/>
          </a:xfrm>
          <a:custGeom>
            <a:avLst/>
            <a:gdLst/>
            <a:ahLst/>
            <a:cxnLst/>
            <a:rect r="r" b="b" t="t" l="l"/>
            <a:pathLst>
              <a:path h="5470363" w="15664183">
                <a:moveTo>
                  <a:pt x="0" y="0"/>
                </a:moveTo>
                <a:lnTo>
                  <a:pt x="15664183" y="0"/>
                </a:lnTo>
                <a:lnTo>
                  <a:pt x="15664183" y="5470363"/>
                </a:lnTo>
                <a:lnTo>
                  <a:pt x="0" y="5470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0" r="0" b="-43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94699" y="661988"/>
            <a:ext cx="3625995" cy="93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9"/>
              </a:lnSpc>
            </a:pPr>
            <a:r>
              <a:rPr lang="en-US" sz="7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Costos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8126" y="8931486"/>
            <a:ext cx="99352" cy="451635"/>
            <a:chOff x="0" y="0"/>
            <a:chExt cx="26167" cy="118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911" y="2287844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2A8E3">
                    <a:alpha val="0"/>
                  </a:srgbClr>
                </a:gs>
                <a:gs pos="100000">
                  <a:srgbClr val="3B27C6">
                    <a:alpha val="72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01122" y="2287844"/>
            <a:ext cx="15685756" cy="6089191"/>
          </a:xfrm>
          <a:custGeom>
            <a:avLst/>
            <a:gdLst/>
            <a:ahLst/>
            <a:cxnLst/>
            <a:rect r="r" b="b" t="t" l="l"/>
            <a:pathLst>
              <a:path h="6089191" w="15685756">
                <a:moveTo>
                  <a:pt x="0" y="0"/>
                </a:moveTo>
                <a:lnTo>
                  <a:pt x="15685756" y="0"/>
                </a:lnTo>
                <a:lnTo>
                  <a:pt x="15685756" y="6089191"/>
                </a:lnTo>
                <a:lnTo>
                  <a:pt x="0" y="6089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507472" y="9185878"/>
            <a:ext cx="1751828" cy="19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014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3544" y="1200150"/>
            <a:ext cx="7570456" cy="82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Riesgos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39048" y="9057982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56636" y="9057982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64506" y="1724267"/>
            <a:ext cx="10558989" cy="82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4"/>
              </a:lnSpc>
            </a:pPr>
            <a:r>
              <a:rPr lang="en-US" sz="6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Pruebas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73919" y="3457575"/>
            <a:ext cx="13740161" cy="3209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 validación del sistema incluye:</a:t>
            </a:r>
          </a:p>
          <a:p>
            <a:pPr algn="l" marL="632952" indent="-316476" lvl="1">
              <a:lnSpc>
                <a:spcPts val="3224"/>
              </a:lnSpc>
              <a:buFont typeface="Arial"/>
              <a:buChar char="•"/>
            </a:pPr>
            <a:r>
              <a:rPr lang="en-US" sz="2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Pruebas funcionales: cada RF tiene un caso de prueba asociado.</a:t>
            </a:r>
          </a:p>
          <a:p>
            <a:pPr algn="l" marL="632952" indent="-316476" lvl="1">
              <a:lnSpc>
                <a:spcPts val="3224"/>
              </a:lnSpc>
              <a:buFont typeface="Arial"/>
              <a:buChar char="•"/>
            </a:pPr>
            <a:r>
              <a:rPr lang="en-US" sz="2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Pruebas negativas: validación de errores en montos o registros vacíos.</a:t>
            </a:r>
          </a:p>
          <a:p>
            <a:pPr algn="l" marL="632952" indent="-316476" lvl="1">
              <a:lnSpc>
                <a:spcPts val="3224"/>
              </a:lnSpc>
              <a:buFont typeface="Arial"/>
              <a:buChar char="•"/>
            </a:pPr>
            <a:r>
              <a:rPr lang="en-US" sz="2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Pruebas de rendimiento: tiempo de respuesta &lt; 3 segundos.</a:t>
            </a:r>
          </a:p>
          <a:p>
            <a:pPr algn="l" marL="632952" indent="-316476" lvl="1">
              <a:lnSpc>
                <a:spcPts val="3224"/>
              </a:lnSpc>
              <a:buFont typeface="Arial"/>
              <a:buChar char="•"/>
            </a:pPr>
            <a:r>
              <a:rPr lang="en-US" sz="2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Pruebas de usabilidad: evaluación con usuarios reales (personas).</a:t>
            </a:r>
          </a:p>
          <a:p>
            <a:pPr algn="l" marL="632952" indent="-316476" lvl="1">
              <a:lnSpc>
                <a:spcPts val="3224"/>
              </a:lnSpc>
              <a:buFont typeface="Arial"/>
              <a:buChar char="•"/>
            </a:pPr>
            <a:r>
              <a:rPr lang="en-US" sz="2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Pruebas de seguridad: verificación de autenticación y reglas de Firestore.</a:t>
            </a:r>
          </a:p>
          <a:p>
            <a:pPr algn="l">
              <a:lnSpc>
                <a:spcPts val="322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507472" y="9185878"/>
            <a:ext cx="1751828" cy="19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015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4664">
                <a:alpha val="100000"/>
              </a:srgbClr>
            </a:gs>
            <a:gs pos="100000">
              <a:srgbClr val="07144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38159">
            <a:off x="-174563" y="7036805"/>
            <a:ext cx="9525408" cy="5334228"/>
          </a:xfrm>
          <a:custGeom>
            <a:avLst/>
            <a:gdLst/>
            <a:ahLst/>
            <a:cxnLst/>
            <a:rect r="r" b="b" t="t" l="l"/>
            <a:pathLst>
              <a:path h="5334228" w="9525408">
                <a:moveTo>
                  <a:pt x="0" y="0"/>
                </a:moveTo>
                <a:lnTo>
                  <a:pt x="9525407" y="0"/>
                </a:lnTo>
                <a:lnTo>
                  <a:pt x="9525407" y="5334228"/>
                </a:lnTo>
                <a:lnTo>
                  <a:pt x="0" y="5334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81166" y="655785"/>
            <a:ext cx="99352" cy="451635"/>
            <a:chOff x="0" y="0"/>
            <a:chExt cx="26167" cy="118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167" cy="118949"/>
            </a:xfrm>
            <a:custGeom>
              <a:avLst/>
              <a:gdLst/>
              <a:ahLst/>
              <a:cxnLst/>
              <a:rect r="r" b="b" t="t" l="l"/>
              <a:pathLst>
                <a:path h="118949" w="26167">
                  <a:moveTo>
                    <a:pt x="0" y="0"/>
                  </a:moveTo>
                  <a:lnTo>
                    <a:pt x="26167" y="0"/>
                  </a:lnTo>
                  <a:lnTo>
                    <a:pt x="26167" y="118949"/>
                  </a:lnTo>
                  <a:lnTo>
                    <a:pt x="0" y="118949"/>
                  </a:lnTo>
                  <a:close/>
                </a:path>
              </a:pathLst>
            </a:custGeom>
            <a:solidFill>
              <a:srgbClr val="B7E6F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26167" cy="7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507472" y="9185878"/>
            <a:ext cx="1751828" cy="19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"/>
              </a:lnSpc>
            </a:pPr>
            <a:r>
              <a:rPr lang="en-US" sz="15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page  018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555110" y="2717306"/>
            <a:ext cx="7408380" cy="7435418"/>
          </a:xfrm>
          <a:custGeom>
            <a:avLst/>
            <a:gdLst/>
            <a:ahLst/>
            <a:cxnLst/>
            <a:rect r="r" b="b" t="t" l="l"/>
            <a:pathLst>
              <a:path h="7435418" w="7408380">
                <a:moveTo>
                  <a:pt x="0" y="0"/>
                </a:moveTo>
                <a:lnTo>
                  <a:pt x="7408380" y="0"/>
                </a:lnTo>
                <a:lnTo>
                  <a:pt x="7408380" y="7435418"/>
                </a:lnTo>
                <a:lnTo>
                  <a:pt x="0" y="7435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54438" y="4047639"/>
            <a:ext cx="8179124" cy="2467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89"/>
              </a:lnSpc>
            </a:pPr>
            <a:r>
              <a:rPr lang="en-US" sz="1020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Gracias por su atención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-2675490" y="2717306"/>
            <a:ext cx="7408380" cy="7435418"/>
          </a:xfrm>
          <a:custGeom>
            <a:avLst/>
            <a:gdLst/>
            <a:ahLst/>
            <a:cxnLst/>
            <a:rect r="r" b="b" t="t" l="l"/>
            <a:pathLst>
              <a:path h="7435418" w="7408380">
                <a:moveTo>
                  <a:pt x="7408380" y="0"/>
                </a:moveTo>
                <a:lnTo>
                  <a:pt x="0" y="0"/>
                </a:lnTo>
                <a:lnTo>
                  <a:pt x="0" y="7435418"/>
                </a:lnTo>
                <a:lnTo>
                  <a:pt x="7408380" y="7435418"/>
                </a:lnTo>
                <a:lnTo>
                  <a:pt x="740838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392255" y="782279"/>
            <a:ext cx="2117588" cy="2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 Finanzas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09843" y="782279"/>
            <a:ext cx="2778157" cy="2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931" b="true">
                <a:solidFill>
                  <a:srgbClr val="B7E6F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Personales 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338159">
            <a:off x="9374316" y="6716107"/>
            <a:ext cx="9525408" cy="5334228"/>
          </a:xfrm>
          <a:custGeom>
            <a:avLst/>
            <a:gdLst/>
            <a:ahLst/>
            <a:cxnLst/>
            <a:rect r="r" b="b" t="t" l="l"/>
            <a:pathLst>
              <a:path h="5334228" w="9525408">
                <a:moveTo>
                  <a:pt x="0" y="0"/>
                </a:moveTo>
                <a:lnTo>
                  <a:pt x="9525407" y="0"/>
                </a:lnTo>
                <a:lnTo>
                  <a:pt x="9525407" y="5334229"/>
                </a:lnTo>
                <a:lnTo>
                  <a:pt x="0" y="5334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DAGyFIqgcig</dc:identifier>
  <dcterms:modified xsi:type="dcterms:W3CDTF">2011-08-01T06:04:30Z</dcterms:modified>
  <cp:revision>1</cp:revision>
  <dc:title>Presentacion de fase 2</dc:title>
</cp:coreProperties>
</file>